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12AF4D-E30B-5726-8983-5B55814192EF}" v="3" dt="2026-06-05T14:24:38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02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66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964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86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7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64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8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3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264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0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5390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D661FBA-3CE4-AC2C-075C-AB5477839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0">
                <a:latin typeface="Calibri"/>
                <a:ea typeface="Calibri"/>
                <a:cs typeface="Calibri"/>
              </a:rPr>
              <a:t>Beginning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E217F1DA-ABE8-7686-3000-C6AE788DE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d-ID" i="1" u="sng" strike="sngStrike">
                <a:latin typeface="Calibri"/>
                <a:ea typeface="Calibri"/>
                <a:cs typeface="Calibri"/>
              </a:rPr>
              <a:t>k</a:t>
            </a:r>
            <a:r>
              <a:rPr lang="id-ID" u="sng">
                <a:latin typeface="Calibri"/>
                <a:ea typeface="Calibri"/>
                <a:cs typeface="Calibri"/>
              </a:rPr>
              <a:t>n</a:t>
            </a:r>
            <a:r>
              <a:rPr lang="id-ID">
                <a:latin typeface="Calibri"/>
                <a:ea typeface="Calibri"/>
                <a:cs typeface="Calibri"/>
              </a:rPr>
              <a:t>ee, </a:t>
            </a:r>
            <a:r>
              <a:rPr lang="id-ID" i="1" u="sng" strike="sngStrike">
                <a:latin typeface="Calibri"/>
                <a:ea typeface="Calibri"/>
                <a:cs typeface="Calibri"/>
              </a:rPr>
              <a:t>k</a:t>
            </a:r>
            <a:r>
              <a:rPr lang="id-ID" u="sng">
                <a:latin typeface="Calibri"/>
                <a:ea typeface="Calibri"/>
                <a:cs typeface="Calibri"/>
              </a:rPr>
              <a:t>n</a:t>
            </a:r>
            <a:r>
              <a:rPr lang="id-ID">
                <a:latin typeface="Calibri"/>
                <a:ea typeface="Calibri"/>
                <a:cs typeface="Calibri"/>
              </a:rPr>
              <a:t>ife, </a:t>
            </a:r>
            <a:r>
              <a:rPr lang="id-ID" i="1" u="sng" strike="sngStrike">
                <a:latin typeface="Calibri"/>
                <a:ea typeface="Calibri"/>
                <a:cs typeface="Calibri"/>
              </a:rPr>
              <a:t>k</a:t>
            </a:r>
            <a:r>
              <a:rPr lang="id-ID" u="sng">
                <a:latin typeface="Calibri"/>
                <a:ea typeface="Calibri"/>
                <a:cs typeface="Calibri"/>
              </a:rPr>
              <a:t>n</a:t>
            </a:r>
            <a:r>
              <a:rPr lang="id-ID">
                <a:latin typeface="Calibri"/>
                <a:ea typeface="Calibri"/>
                <a:cs typeface="Calibri"/>
              </a:rPr>
              <a:t>ock</a:t>
            </a:r>
          </a:p>
          <a:p>
            <a:r>
              <a:rPr lang="id-ID" i="1" strike="sngStrike">
                <a:latin typeface="Calibri"/>
                <a:ea typeface="Calibri"/>
                <a:cs typeface="Calibri"/>
              </a:rPr>
              <a:t>h</a:t>
            </a:r>
            <a:r>
              <a:rPr lang="id-ID">
                <a:latin typeface="Calibri"/>
                <a:ea typeface="Calibri"/>
                <a:cs typeface="Calibri"/>
              </a:rPr>
              <a:t>our, </a:t>
            </a:r>
            <a:r>
              <a:rPr lang="id-ID" i="1" strike="sngStrike">
                <a:latin typeface="Calibri"/>
                <a:ea typeface="Calibri"/>
                <a:cs typeface="Calibri"/>
              </a:rPr>
              <a:t>h</a:t>
            </a:r>
            <a:r>
              <a:rPr lang="id-ID">
                <a:latin typeface="Calibri"/>
                <a:ea typeface="Calibri"/>
                <a:cs typeface="Calibri"/>
              </a:rPr>
              <a:t>onest, </a:t>
            </a:r>
            <a:r>
              <a:rPr lang="id-ID" i="1" strike="sngStrike">
                <a:latin typeface="Calibri"/>
                <a:ea typeface="Calibri"/>
                <a:cs typeface="Calibri"/>
              </a:rPr>
              <a:t>h</a:t>
            </a:r>
            <a:r>
              <a:rPr lang="id-ID">
                <a:latin typeface="Calibri"/>
                <a:ea typeface="Calibri"/>
                <a:cs typeface="Calibri"/>
              </a:rPr>
              <a:t>onor</a:t>
            </a:r>
          </a:p>
          <a:p>
            <a:r>
              <a:rPr lang="id-ID" u="sng" strike="sngStrike">
                <a:latin typeface="Calibri"/>
                <a:ea typeface="Calibri"/>
                <a:cs typeface="Calibri"/>
              </a:rPr>
              <a:t>p</a:t>
            </a:r>
            <a:r>
              <a:rPr lang="id-ID" u="sng">
                <a:latin typeface="Calibri"/>
                <a:ea typeface="Calibri"/>
                <a:cs typeface="Calibri"/>
              </a:rPr>
              <a:t>s</a:t>
            </a:r>
            <a:r>
              <a:rPr lang="id-ID">
                <a:latin typeface="Calibri"/>
                <a:ea typeface="Calibri"/>
                <a:cs typeface="Calibri"/>
              </a:rPr>
              <a:t>ychiatrist, </a:t>
            </a:r>
            <a:r>
              <a:rPr lang="id-ID" u="sng" strike="sngStrike">
                <a:latin typeface="Calibri"/>
                <a:ea typeface="Calibri"/>
                <a:cs typeface="Calibri"/>
              </a:rPr>
              <a:t>p</a:t>
            </a:r>
            <a:r>
              <a:rPr lang="id-ID" u="sng">
                <a:latin typeface="Calibri"/>
                <a:ea typeface="Calibri"/>
                <a:cs typeface="Calibri"/>
              </a:rPr>
              <a:t>s</a:t>
            </a:r>
            <a:r>
              <a:rPr lang="id-ID">
                <a:latin typeface="Calibri"/>
                <a:ea typeface="Calibri"/>
                <a:cs typeface="Calibri"/>
              </a:rPr>
              <a:t>ychology or </a:t>
            </a:r>
            <a:r>
              <a:rPr lang="id-ID" u="sng" strike="sngStrike">
                <a:latin typeface="Calibri"/>
                <a:ea typeface="Calibri"/>
                <a:cs typeface="Calibri"/>
              </a:rPr>
              <a:t>p</a:t>
            </a:r>
            <a:r>
              <a:rPr lang="id-ID" u="sng">
                <a:latin typeface="Calibri"/>
                <a:ea typeface="Calibri"/>
                <a:cs typeface="Calibri"/>
              </a:rPr>
              <a:t>s</a:t>
            </a:r>
            <a:r>
              <a:rPr lang="id-ID">
                <a:latin typeface="Calibri"/>
                <a:ea typeface="Calibri"/>
                <a:cs typeface="Calibri"/>
              </a:rPr>
              <a:t>eudocode</a:t>
            </a:r>
          </a:p>
        </p:txBody>
      </p:sp>
    </p:spTree>
    <p:extLst>
      <p:ext uri="{BB962C8B-B14F-4D97-AF65-F5344CB8AC3E}">
        <p14:creationId xmlns:p14="http://schemas.microsoft.com/office/powerpoint/2010/main" val="102413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2803E21-046E-C319-E9F8-D6437754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0">
                <a:latin typeface="Calibri"/>
                <a:ea typeface="Calibri"/>
                <a:cs typeface="Calibri"/>
              </a:rPr>
              <a:t>Ending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757E811-FD37-5E6F-B226-7CA141A40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d-ID">
                <a:latin typeface="Calibri"/>
                <a:ea typeface="Calibri"/>
                <a:cs typeface="Calibri"/>
              </a:rPr>
              <a:t>cli</a:t>
            </a:r>
            <a:r>
              <a:rPr lang="id-ID" u="sng">
                <a:latin typeface="Calibri"/>
                <a:ea typeface="Calibri"/>
                <a:cs typeface="Calibri"/>
              </a:rPr>
              <a:t>m</a:t>
            </a:r>
            <a:r>
              <a:rPr lang="id-ID" i="1" u="sng" strike="sngStrike">
                <a:latin typeface="Calibri"/>
                <a:ea typeface="Calibri"/>
                <a:cs typeface="Calibri"/>
              </a:rPr>
              <a:t>b</a:t>
            </a:r>
            <a:r>
              <a:rPr lang="id-ID">
                <a:latin typeface="Calibri"/>
                <a:ea typeface="Calibri"/>
                <a:cs typeface="Calibri"/>
              </a:rPr>
              <a:t>, li</a:t>
            </a:r>
            <a:r>
              <a:rPr lang="id-ID" u="sng">
                <a:latin typeface="Calibri"/>
                <a:ea typeface="Calibri"/>
                <a:cs typeface="Calibri"/>
              </a:rPr>
              <a:t>m</a:t>
            </a:r>
            <a:r>
              <a:rPr lang="id-ID" i="1" u="sng" strike="sngStrike">
                <a:latin typeface="Calibri"/>
                <a:ea typeface="Calibri"/>
                <a:cs typeface="Calibri"/>
              </a:rPr>
              <a:t>b</a:t>
            </a:r>
            <a:r>
              <a:rPr lang="id-ID">
                <a:latin typeface="Calibri"/>
                <a:ea typeface="Calibri"/>
                <a:cs typeface="Calibri"/>
              </a:rPr>
              <a:t>, bo</a:t>
            </a:r>
            <a:r>
              <a:rPr lang="id-ID" u="sng">
                <a:latin typeface="Calibri"/>
                <a:ea typeface="Calibri"/>
                <a:cs typeface="Calibri"/>
              </a:rPr>
              <a:t>m</a:t>
            </a:r>
            <a:r>
              <a:rPr lang="id-ID" i="1" u="sng" strike="sngStrike">
                <a:latin typeface="Calibri"/>
                <a:ea typeface="Calibri"/>
                <a:cs typeface="Calibri"/>
              </a:rPr>
              <a:t>b</a:t>
            </a:r>
          </a:p>
          <a:p>
            <a:r>
              <a:rPr lang="id-ID">
                <a:latin typeface="Calibri"/>
                <a:ea typeface="Calibri"/>
                <a:cs typeface="Calibri"/>
              </a:rPr>
              <a:t>autu</a:t>
            </a:r>
            <a:r>
              <a:rPr lang="id-ID" u="sng">
                <a:latin typeface="Calibri"/>
                <a:ea typeface="Calibri"/>
                <a:cs typeface="Calibri"/>
              </a:rPr>
              <a:t>m</a:t>
            </a:r>
            <a:r>
              <a:rPr lang="id-ID" i="1" u="sng" strike="sngStrike">
                <a:latin typeface="Calibri"/>
                <a:ea typeface="Calibri"/>
                <a:cs typeface="Calibri"/>
              </a:rPr>
              <a:t>n</a:t>
            </a:r>
            <a:r>
              <a:rPr lang="id-ID">
                <a:latin typeface="Calibri"/>
                <a:ea typeface="Calibri"/>
                <a:cs typeface="Calibri"/>
              </a:rPr>
              <a:t>, colu</a:t>
            </a:r>
            <a:r>
              <a:rPr lang="id-ID" u="sng">
                <a:latin typeface="Calibri"/>
                <a:ea typeface="Calibri"/>
                <a:cs typeface="Calibri"/>
              </a:rPr>
              <a:t>m</a:t>
            </a:r>
            <a:r>
              <a:rPr lang="id-ID" i="1" u="sng" strike="sngStrike">
                <a:latin typeface="Calibri"/>
                <a:ea typeface="Calibri"/>
                <a:cs typeface="Calibri"/>
              </a:rPr>
              <a:t>n</a:t>
            </a:r>
            <a:r>
              <a:rPr lang="id-ID">
                <a:latin typeface="Calibri"/>
                <a:ea typeface="Calibri"/>
                <a:cs typeface="Calibri"/>
              </a:rPr>
              <a:t>, hy</a:t>
            </a:r>
            <a:r>
              <a:rPr lang="id-ID" u="sng">
                <a:latin typeface="Calibri"/>
                <a:ea typeface="Calibri"/>
                <a:cs typeface="Calibri"/>
              </a:rPr>
              <a:t>m</a:t>
            </a:r>
            <a:r>
              <a:rPr lang="id-ID" i="1" u="sng" strike="sngStrike">
                <a:latin typeface="Calibri"/>
                <a:ea typeface="Calibri"/>
                <a:cs typeface="Calibri"/>
              </a:rPr>
              <a:t>n</a:t>
            </a:r>
          </a:p>
          <a:p>
            <a:r>
              <a:rPr lang="id-ID">
                <a:latin typeface="Calibri"/>
                <a:ea typeface="Calibri"/>
                <a:cs typeface="Calibri"/>
              </a:rPr>
              <a:t>balle</a:t>
            </a:r>
            <a:r>
              <a:rPr lang="id-ID" i="1" strike="sngStrike">
                <a:latin typeface="Calibri"/>
                <a:ea typeface="Calibri"/>
                <a:cs typeface="Calibri"/>
              </a:rPr>
              <a:t>t</a:t>
            </a:r>
            <a:r>
              <a:rPr lang="id-ID">
                <a:latin typeface="Calibri"/>
                <a:ea typeface="Calibri"/>
                <a:cs typeface="Calibri"/>
              </a:rPr>
              <a:t>, buffe</a:t>
            </a:r>
            <a:r>
              <a:rPr lang="id-ID" i="1" strike="sngStrike">
                <a:latin typeface="Calibri"/>
                <a:ea typeface="Calibri"/>
                <a:cs typeface="Calibri"/>
              </a:rPr>
              <a:t>t</a:t>
            </a:r>
            <a:r>
              <a:rPr lang="id-ID">
                <a:latin typeface="Calibri"/>
                <a:ea typeface="Calibri"/>
                <a:cs typeface="Calibri"/>
              </a:rPr>
              <a:t>, gourme</a:t>
            </a:r>
            <a:r>
              <a:rPr lang="id-ID" i="1" strike="sngStrike">
                <a:latin typeface="Calibri"/>
                <a:ea typeface="Calibri"/>
                <a:cs typeface="Calibri"/>
              </a:rPr>
              <a:t>t</a:t>
            </a:r>
            <a:r>
              <a:rPr lang="id-ID">
                <a:latin typeface="Calibri"/>
                <a:ea typeface="Calibri"/>
                <a:cs typeface="Calibri"/>
              </a:rPr>
              <a:t> (from français)</a:t>
            </a:r>
          </a:p>
          <a:p>
            <a:r>
              <a:rPr lang="id-ID">
                <a:latin typeface="Calibri"/>
                <a:ea typeface="Calibri"/>
                <a:cs typeface="Calibri"/>
              </a:rPr>
              <a:t>us/</a:t>
            </a:r>
            <a:r>
              <a:rPr lang="id-ID" u="sng">
                <a:latin typeface="Calibri"/>
                <a:ea typeface="Calibri"/>
                <a:cs typeface="Calibri"/>
              </a:rPr>
              <a:t>u</a:t>
            </a:r>
            <a:r>
              <a:rPr lang="id-ID">
                <a:latin typeface="Calibri"/>
                <a:ea typeface="Calibri"/>
                <a:cs typeface="Calibri"/>
              </a:rPr>
              <a:t>s</a:t>
            </a:r>
            <a:r>
              <a:rPr lang="id-ID" i="1" strike="sngStrike">
                <a:latin typeface="Calibri"/>
                <a:ea typeface="Calibri"/>
                <a:cs typeface="Calibri"/>
              </a:rPr>
              <a:t>e</a:t>
            </a:r>
            <a:r>
              <a:rPr lang="id-ID">
                <a:latin typeface="Calibri"/>
                <a:ea typeface="Calibri"/>
                <a:cs typeface="Calibri"/>
              </a:rPr>
              <a:t>, her/h</a:t>
            </a:r>
            <a:r>
              <a:rPr lang="id-ID" u="sng">
                <a:latin typeface="Calibri"/>
                <a:ea typeface="Calibri"/>
                <a:cs typeface="Calibri"/>
              </a:rPr>
              <a:t>e</a:t>
            </a:r>
            <a:r>
              <a:rPr lang="id-ID">
                <a:latin typeface="Calibri"/>
                <a:ea typeface="Calibri"/>
                <a:cs typeface="Calibri"/>
              </a:rPr>
              <a:t>r</a:t>
            </a:r>
            <a:r>
              <a:rPr lang="id-ID" strike="sngStrike">
                <a:latin typeface="Calibri"/>
                <a:ea typeface="Calibri"/>
                <a:cs typeface="Calibri"/>
              </a:rPr>
              <a:t>e</a:t>
            </a:r>
            <a:r>
              <a:rPr lang="id-ID">
                <a:latin typeface="Calibri"/>
                <a:ea typeface="Calibri"/>
                <a:cs typeface="Calibri"/>
              </a:rPr>
              <a:t>, rat/r</a:t>
            </a:r>
            <a:r>
              <a:rPr lang="id-ID" u="sng">
                <a:latin typeface="Calibri"/>
                <a:ea typeface="Calibri"/>
                <a:cs typeface="Calibri"/>
              </a:rPr>
              <a:t>a</a:t>
            </a:r>
            <a:r>
              <a:rPr lang="id-ID">
                <a:latin typeface="Calibri"/>
                <a:ea typeface="Calibri"/>
                <a:cs typeface="Calibri"/>
              </a:rPr>
              <a:t>t</a:t>
            </a:r>
            <a:r>
              <a:rPr lang="id-ID" i="1" strike="sngStrike">
                <a:latin typeface="Calibri"/>
                <a:ea typeface="Calibri"/>
                <a:cs typeface="Calibri"/>
              </a:rPr>
              <a:t>e</a:t>
            </a:r>
            <a:r>
              <a:rPr lang="id-ID">
                <a:latin typeface="Calibri"/>
                <a:ea typeface="Calibri"/>
                <a:cs typeface="Calibri"/>
              </a:rPr>
              <a:t> (modifies another vowel)</a:t>
            </a:r>
          </a:p>
        </p:txBody>
      </p:sp>
    </p:spTree>
    <p:extLst>
      <p:ext uri="{BB962C8B-B14F-4D97-AF65-F5344CB8AC3E}">
        <p14:creationId xmlns:p14="http://schemas.microsoft.com/office/powerpoint/2010/main" val="254781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6D56057-523D-CBA3-52DE-08F0D4D1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0">
                <a:latin typeface="Calibri"/>
                <a:ea typeface="Calibri"/>
                <a:cs typeface="Calibri"/>
              </a:rPr>
              <a:t>Some exceptions (in the middle)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B00F08D5-7AFE-EB7F-A2BF-216A27976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d-ID">
                <a:latin typeface="Calibri"/>
                <a:ea typeface="Calibri"/>
                <a:cs typeface="Calibri"/>
              </a:rPr>
              <a:t>shou</a:t>
            </a:r>
            <a:r>
              <a:rPr lang="id-ID" i="1" strike="sngStrike">
                <a:latin typeface="Calibri"/>
                <a:ea typeface="Calibri"/>
                <a:cs typeface="Calibri"/>
              </a:rPr>
              <a:t>l</a:t>
            </a:r>
            <a:r>
              <a:rPr lang="id-ID">
                <a:latin typeface="Calibri"/>
                <a:ea typeface="Calibri"/>
                <a:cs typeface="Calibri"/>
              </a:rPr>
              <a:t>d, i</a:t>
            </a:r>
            <a:r>
              <a:rPr lang="id-ID" i="1" strike="sngStrike">
                <a:latin typeface="Calibri"/>
                <a:ea typeface="Calibri"/>
                <a:cs typeface="Calibri"/>
              </a:rPr>
              <a:t>s</a:t>
            </a:r>
            <a:r>
              <a:rPr lang="id-ID">
                <a:latin typeface="Calibri"/>
                <a:ea typeface="Calibri"/>
                <a:cs typeface="Calibri"/>
              </a:rPr>
              <a:t>land, s</a:t>
            </a:r>
            <a:r>
              <a:rPr lang="id-ID" i="1" strike="sngStrike">
                <a:latin typeface="Calibri"/>
                <a:ea typeface="Calibri"/>
                <a:cs typeface="Calibri"/>
              </a:rPr>
              <a:t>w</a:t>
            </a:r>
            <a:r>
              <a:rPr lang="id-ID">
                <a:latin typeface="Calibri"/>
                <a:ea typeface="Calibri"/>
                <a:cs typeface="Calibri"/>
              </a:rPr>
              <a:t>ord (no rule)</a:t>
            </a:r>
          </a:p>
          <a:p>
            <a:r>
              <a:rPr lang="id-ID">
                <a:latin typeface="Calibri"/>
                <a:ea typeface="Calibri"/>
                <a:cs typeface="Calibri"/>
              </a:rPr>
              <a:t>comf</a:t>
            </a:r>
            <a:r>
              <a:rPr lang="id-ID" i="1" strike="sngStrike">
                <a:latin typeface="Calibri"/>
                <a:ea typeface="Calibri"/>
                <a:cs typeface="Calibri"/>
              </a:rPr>
              <a:t>o</a:t>
            </a:r>
            <a:r>
              <a:rPr lang="id-ID">
                <a:latin typeface="Calibri"/>
                <a:ea typeface="Calibri"/>
                <a:cs typeface="Calibri"/>
              </a:rPr>
              <a:t>rtable, choc</a:t>
            </a:r>
            <a:r>
              <a:rPr lang="id-ID" i="1" strike="sngStrike">
                <a:latin typeface="Calibri"/>
                <a:ea typeface="Calibri"/>
                <a:cs typeface="Calibri"/>
              </a:rPr>
              <a:t>o</a:t>
            </a:r>
            <a:r>
              <a:rPr lang="id-ID">
                <a:latin typeface="Calibri"/>
                <a:ea typeface="Calibri"/>
                <a:cs typeface="Calibri"/>
              </a:rPr>
              <a:t>late, diff</a:t>
            </a:r>
            <a:r>
              <a:rPr lang="id-ID" i="1" strike="sngStrike">
                <a:latin typeface="Calibri"/>
                <a:ea typeface="Calibri"/>
                <a:cs typeface="Calibri"/>
              </a:rPr>
              <a:t>e</a:t>
            </a:r>
            <a:r>
              <a:rPr lang="id-ID">
                <a:latin typeface="Calibri"/>
                <a:ea typeface="Calibri"/>
                <a:cs typeface="Calibri"/>
              </a:rPr>
              <a:t>rent (optional)</a:t>
            </a:r>
          </a:p>
        </p:txBody>
      </p:sp>
    </p:spTree>
    <p:extLst>
      <p:ext uri="{BB962C8B-B14F-4D97-AF65-F5344CB8AC3E}">
        <p14:creationId xmlns:p14="http://schemas.microsoft.com/office/powerpoint/2010/main" val="28133186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Layar Lebar</PresentationFormat>
  <Paragraphs>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Judul Slide</vt:lpstr>
      </vt:variant>
      <vt:variant>
        <vt:i4>3</vt:i4>
      </vt:variant>
    </vt:vector>
  </HeadingPairs>
  <TitlesOfParts>
    <vt:vector size="4" baseType="lpstr">
      <vt:lpstr>PortalVTI</vt:lpstr>
      <vt:lpstr>Beginning</vt:lpstr>
      <vt:lpstr>Ending</vt:lpstr>
      <vt:lpstr>Some exceptions (in the middle)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97</cp:revision>
  <dcterms:created xsi:type="dcterms:W3CDTF">2026-03-21T00:23:56Z</dcterms:created>
  <dcterms:modified xsi:type="dcterms:W3CDTF">2026-06-23T13:16:52Z</dcterms:modified>
</cp:coreProperties>
</file>